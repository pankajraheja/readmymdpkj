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Visual inspiration only: KPMG US homepage, accessed March 2, 2026, https://kpmg.com/us/en.html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Visual inspiration only: KPMG US homepage, accessed March 2, 2026, https://kpmg.com/us/en.html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502920"/>
            <a:ext cx="4096512" cy="6355080"/>
          </a:xfrm>
          <a:prstGeom prst="rect">
            <a:avLst/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Gateway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</a:rPr>
              <a:t>Unified standards for asset discovery, prototyping, pro-code application delivery, and agentic orchestration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Design standards + taxonomy + metadata + RBAC + SDLC are the enforcement spine so every app looks, behaves, and ships consistently.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71246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Gateway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36576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371246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Shared Taxonomy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365760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097A9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371246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36576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371246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 Controls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315968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315968"/>
            <a:ext cx="91440" cy="13258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805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Why this platform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791456"/>
            <a:ext cx="327355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Move from isolated apps to one governed gateway where builders share design, data, metadata, access, and lifecycle standards.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9120" y="4315968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4315968"/>
            <a:ext cx="91440" cy="1325880"/>
          </a:xfrm>
          <a:prstGeom prst="rect">
            <a:avLst/>
          </a:prstGeom>
          <a:solidFill>
            <a:srgbClr val="0097A9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4805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Outcome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791456"/>
            <a:ext cx="263347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Faster reuse, cleaner governance, consistent UX, and safer agent-assisted app delivery.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4964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49640" y="1463040"/>
            <a:ext cx="2834640" cy="438912"/>
          </a:xfrm>
          <a:prstGeom prst="roundRect">
            <a:avLst>
              <a:gd name="adj" fmla="val 10417"/>
            </a:avLst>
          </a:prstGeom>
          <a:solidFill>
            <a:srgbClr val="21407E"/>
          </a:solidFill>
          <a:ln w="12700">
            <a:solidFill>
              <a:srgbClr val="5F85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159105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Asset Catalog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49640" y="2139696"/>
            <a:ext cx="2834640" cy="438912"/>
          </a:xfrm>
          <a:prstGeom prst="roundRect">
            <a:avLst>
              <a:gd name="adj" fmla="val 10417"/>
            </a:avLst>
          </a:prstGeom>
          <a:solidFill>
            <a:srgbClr val="21407E"/>
          </a:solidFill>
          <a:ln w="12700">
            <a:solidFill>
              <a:srgbClr val="5F85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226771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Prototype Builder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49640" y="2816352"/>
            <a:ext cx="2834640" cy="438912"/>
          </a:xfrm>
          <a:prstGeom prst="roundRect">
            <a:avLst>
              <a:gd name="adj" fmla="val 10417"/>
            </a:avLst>
          </a:prstGeom>
          <a:solidFill>
            <a:srgbClr val="21407E"/>
          </a:solidFill>
          <a:ln w="12700">
            <a:solidFill>
              <a:srgbClr val="5F85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05088" y="294436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Application Builder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549640" y="3493008"/>
            <a:ext cx="2834640" cy="438912"/>
          </a:xfrm>
          <a:prstGeom prst="roundRect">
            <a:avLst>
              <a:gd name="adj" fmla="val 10417"/>
            </a:avLst>
          </a:prstGeom>
          <a:solidFill>
            <a:srgbClr val="0097A9"/>
          </a:solidFill>
          <a:ln w="12700">
            <a:solidFill>
              <a:srgbClr val="5F85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5088" y="362102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FORGE Agentic Platform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49640" y="4169664"/>
            <a:ext cx="2834640" cy="438912"/>
          </a:xfrm>
          <a:prstGeom prst="roundRect">
            <a:avLst>
              <a:gd name="adj" fmla="val 10417"/>
            </a:avLst>
          </a:prstGeom>
          <a:solidFill>
            <a:srgbClr val="21407E"/>
          </a:solidFill>
          <a:ln w="12700">
            <a:solidFill>
              <a:srgbClr val="5F85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429768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Admin + Taxonomy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9640" y="4846320"/>
            <a:ext cx="2834640" cy="438912"/>
          </a:xfrm>
          <a:prstGeom prst="roundRect">
            <a:avLst>
              <a:gd name="adj" fmla="val 10417"/>
            </a:avLst>
          </a:prstGeom>
          <a:solidFill>
            <a:srgbClr val="21407E"/>
          </a:solidFill>
          <a:ln w="12700">
            <a:solidFill>
              <a:srgbClr val="5F85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05088" y="497433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SDLC Pipeline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Gateway Platform Pitch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problem we are solving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tools create inconsistent user experiences, repeated standards work, and fragmented governance.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91440" cy="333756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Today: isolated module growth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258568"/>
            <a:ext cx="3136392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Each app defines its own UI patterns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Metadata and tags drift across tools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User roles and access logic get duplicated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Handoffs from prototype to code are manual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Agent features grow without one control plane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783080"/>
            <a:ext cx="91440" cy="333756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476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Target: one gateway standard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258568"/>
            <a:ext cx="3136392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Shared shell, design system, and app templates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Central taxonomy, tags, and metadata definitions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Platform-wide RBAC and user 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Clear promotion path from prototype to production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• FORGE becomes the governed AI/agent backbone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1783080"/>
            <a:ext cx="91440" cy="3337560"/>
          </a:xfrm>
          <a:prstGeom prst="rect">
            <a:avLst/>
          </a:prstGeom>
          <a:solidFill>
            <a:srgbClr val="0097A9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94767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Strategic benefit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258568"/>
            <a:ext cx="3136392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Consistency is not only a UI decision. It is enforced through metadata, identity, policy, packaging, and SDLC controls.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94760" y="5623560"/>
            <a:ext cx="4617720" cy="310896"/>
          </a:xfrm>
          <a:prstGeom prst="roundRect">
            <a:avLst>
              <a:gd name="adj" fmla="val 17647"/>
            </a:avLst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5678424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Standardize once, reuse everywhere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Gateway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platform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unified experience gateway on top of modular business capabilities and shared platform services.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0020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10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Experience Gateway Shell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17720" y="182880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CEBFF"/>
                </a:solidFill>
              </a:rPr>
              <a:t>Ribbon • Navigation • Search • Notifications • Shared session • Recent items • Favorites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691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Asset Catalog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2788920"/>
            <a:ext cx="1691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Prototype Builder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2788920"/>
            <a:ext cx="1691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Application Builder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788920"/>
            <a:ext cx="1691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FORGE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12480" y="2788920"/>
            <a:ext cx="1691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Admin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332720" y="2788920"/>
            <a:ext cx="16916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08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42448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SDLC Pipeline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72768" y="3840480"/>
            <a:ext cx="0" cy="530352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93008" y="3840480"/>
            <a:ext cx="0" cy="530352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3840480"/>
            <a:ext cx="0" cy="530352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3488" y="3840480"/>
            <a:ext cx="0" cy="530352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3728" y="3840480"/>
            <a:ext cx="0" cy="530352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73968" y="3840480"/>
            <a:ext cx="0" cy="530352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4434840"/>
            <a:ext cx="10058400" cy="713232"/>
          </a:xfrm>
          <a:prstGeom prst="roundRect">
            <a:avLst>
              <a:gd name="adj" fmla="val 6410"/>
            </a:avLst>
          </a:prstGeom>
          <a:solidFill>
            <a:srgbClr val="EEF4FF"/>
          </a:solidFill>
          <a:ln w="12700">
            <a:solidFill>
              <a:srgbClr val="AFC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Shared Platform Services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29000" y="4690872"/>
            <a:ext cx="7132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Design System • Taxonomy &amp; Metadata • Identity/RBAC • Module Registry • Connectors/Skills/Templates • Observability • Audit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05840" y="5486400"/>
            <a:ext cx="4800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5486400"/>
            <a:ext cx="4800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570585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Shared schemas: identity, metadata, platform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570585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Module-owned schemas: catalog, prototype, app_builder, forge, sdlc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Gateway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map: how the platform works together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module has a clear role, but shared standards make the whole platform feel like one product.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91440" cy="1234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Asset Catalog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258568"/>
            <a:ext cx="318211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Discover reusable assets, search indexed content, manage metadata, lineage, and governed access.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17830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783080"/>
            <a:ext cx="91440" cy="12344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94767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Prototype Builder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258568"/>
            <a:ext cx="318211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Rapidly create frontend prototypes and low-code experiences for business and product users.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17830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1783080"/>
            <a:ext cx="91440" cy="12344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94767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Application Builder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2258568"/>
            <a:ext cx="318211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Take prototypes into pro-code delivery with shared components, APIs, and app templates.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3101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310128"/>
            <a:ext cx="91440" cy="1234440"/>
          </a:xfrm>
          <a:prstGeom prst="rect">
            <a:avLst/>
          </a:prstGeom>
          <a:solidFill>
            <a:srgbClr val="0097A9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4747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FORGE Agentic Platform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785616"/>
            <a:ext cx="318211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Provide connectors, templates, skills, workflows, orchestration, guardrails, and execution logs.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70832" y="33101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70832" y="3310128"/>
            <a:ext cx="9144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34747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Admin Control Center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53712" y="3785616"/>
            <a:ext cx="318211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Manage taxonomies, tags, metadata definitions, users, roles, policies, and module registrations.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55864" y="331012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55864" y="3310128"/>
            <a:ext cx="91440" cy="1234440"/>
          </a:xfrm>
          <a:prstGeom prst="rect">
            <a:avLst/>
          </a:prstGeom>
          <a:solidFill>
            <a:srgbClr val="D08B00"/>
          </a:solidFill>
          <a:ln w="12700">
            <a:solidFill>
              <a:srgbClr val="D08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8744" y="34747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SDLC Pipeline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38744" y="3785616"/>
            <a:ext cx="318211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Promote apps and agentic solutions through build, approval, deployment, versioning, and release controls.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49040" y="5074920"/>
            <a:ext cx="4754880" cy="457200"/>
          </a:xfrm>
          <a:prstGeom prst="chevron">
            <a:avLst/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58768" y="522122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Discover → Prototype → Build → Enrich with FORGE → Govern → Promote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Gateway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standards: the visible layer of consistency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gateway shell and every app module should inherit the same visual language, interaction patterns, and page templates.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55648"/>
            <a:ext cx="2743200" cy="40690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55648"/>
            <a:ext cx="91440" cy="40690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</a:rPr>
              <a:t>Core visual standards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231136"/>
            <a:ext cx="2450592" cy="3483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Color tokens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Typography scale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Spacing and grid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Button variants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Ribbon + navbar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Cards, forms, tables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Loading / empty / error states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Accessibility and responsive rules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4760" y="1828800"/>
            <a:ext cx="768096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1828800"/>
            <a:ext cx="7680960" cy="384048"/>
          </a:xfrm>
          <a:prstGeom prst="rect">
            <a:avLst/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193852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Enterprise Gateway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2212848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3957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Catalog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0" y="23957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Prototype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23957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Builder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0" y="23957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8D"/>
                </a:solidFill>
              </a:rPr>
              <a:t>FORGE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0" y="23957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Pipeline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0" y="23957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Admin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60520" y="2944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Shared app shell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160520" y="327355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Same ribbon, same navigation behavior, same page header, same action patterns, same card and table language.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49640" y="2971800"/>
            <a:ext cx="2148840" cy="384048"/>
          </a:xfrm>
          <a:prstGeom prst="roundRect">
            <a:avLst>
              <a:gd name="adj" fmla="val 9524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7968" y="3099816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Primary Button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49640" y="3520440"/>
            <a:ext cx="21488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96528" y="3648456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38D"/>
                </a:solidFill>
              </a:rPr>
              <a:t>Secondary Button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60520" y="4224528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33672" y="427939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4px–6px radii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4224528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427939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 blue primary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466344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33672" y="471830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white/light-gray surfaces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466344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471830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compact enterprise spacing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60520" y="510235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33672" y="515721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minimal motion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Design Standards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Taxonomy and metadata: the enforcement layer behind the standards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Taxonomy is how the platform stays structured. It makes standards operational, searchable, and reusable across every module.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274320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12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Admin owns the source of truth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2743200"/>
            <a:ext cx="22860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Taxonomies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 and metadata definitions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statuses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rules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vocabularies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3154680"/>
            <a:ext cx="914400" cy="438912"/>
          </a:xfrm>
          <a:prstGeom prst="chevron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1920240"/>
            <a:ext cx="60350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2194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Applied everywhere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0" y="2743200"/>
            <a:ext cx="1508760" cy="658368"/>
          </a:xfrm>
          <a:prstGeom prst="roundRect">
            <a:avLst>
              <a:gd name="adj" fmla="val 5556"/>
            </a:avLst>
          </a:prstGeom>
          <a:solidFill>
            <a:srgbClr val="EEF4FF"/>
          </a:solidFill>
          <a:ln w="12700">
            <a:solidFill>
              <a:srgbClr val="AFC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9260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Asset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2743200"/>
            <a:ext cx="1508760" cy="658368"/>
          </a:xfrm>
          <a:prstGeom prst="roundRect">
            <a:avLst>
              <a:gd name="adj" fmla="val 5556"/>
            </a:avLst>
          </a:prstGeom>
          <a:solidFill>
            <a:srgbClr val="EEF4FF"/>
          </a:solidFill>
          <a:ln w="12700">
            <a:solidFill>
              <a:srgbClr val="AFC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29260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Prototype Builder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2743200"/>
            <a:ext cx="1508760" cy="658368"/>
          </a:xfrm>
          <a:prstGeom prst="roundRect">
            <a:avLst>
              <a:gd name="adj" fmla="val 5556"/>
            </a:avLst>
          </a:prstGeom>
          <a:solidFill>
            <a:srgbClr val="EEF4FF"/>
          </a:solidFill>
          <a:ln w="12700">
            <a:solidFill>
              <a:srgbClr val="AFC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9260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Application Builder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3703320"/>
            <a:ext cx="1508760" cy="658368"/>
          </a:xfrm>
          <a:prstGeom prst="roundRect">
            <a:avLst>
              <a:gd name="adj" fmla="val 5556"/>
            </a:avLst>
          </a:prstGeom>
          <a:solidFill>
            <a:srgbClr val="EEF4FF"/>
          </a:solidFill>
          <a:ln w="12700">
            <a:solidFill>
              <a:srgbClr val="AFC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8862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FORGE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3703320"/>
            <a:ext cx="1508760" cy="658368"/>
          </a:xfrm>
          <a:prstGeom prst="roundRect">
            <a:avLst>
              <a:gd name="adj" fmla="val 5556"/>
            </a:avLst>
          </a:prstGeom>
          <a:solidFill>
            <a:srgbClr val="EEF4FF"/>
          </a:solidFill>
          <a:ln w="12700">
            <a:solidFill>
              <a:srgbClr val="AFC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8862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SDLC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457200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Every artifact—asset, connector, skill, template, prototype, app, workflow, release—carries consistent metadata so it can be governed, found, reused, and measured.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069080" y="5532120"/>
            <a:ext cx="4069080" cy="310896"/>
          </a:xfrm>
          <a:prstGeom prst="roundRect">
            <a:avLst>
              <a:gd name="adj" fmla="val 1764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5586984"/>
            <a:ext cx="3922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Standards become enforceable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Taxonomy &amp; Metadata Governance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RBAC, and shared control schemas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user model and one access model reduce duplication and make governance platform-wide.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83080"/>
            <a:ext cx="91440" cy="4114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476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Shared schemas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258568"/>
            <a:ext cx="2450592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identity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users, roles, permissions, groups, access policies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metadata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taxonomies, tags, metadata definitions, classifications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platform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module registry, settings, feature flags, audit logs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4760" y="1783080"/>
            <a:ext cx="7680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</a:rPr>
              <a:t>Access model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069080" y="25146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69080" y="2514600"/>
            <a:ext cx="91440" cy="105156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67919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Platform roles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51960" y="2990088"/>
            <a:ext cx="286207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Platform admin, module admin, builder, reviewer, consumer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25146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2514600"/>
            <a:ext cx="91440" cy="105156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267919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Module permissions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18120" y="2990088"/>
            <a:ext cx="286207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catalog.read, prototype.write, forge.execute, pipeline.approve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69080" y="384048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69080" y="3840480"/>
            <a:ext cx="91440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400507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Resource permissions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51960" y="4315968"/>
            <a:ext cx="286207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owner, editor, viewer on assets, templates, connectors, apps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35240" y="384048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3840480"/>
            <a:ext cx="91440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400507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Policy controls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18120" y="4315968"/>
            <a:ext cx="286207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environment restrictions, approval gates, sensitive actions, audit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Identity &amp; Access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 + SDLC: governed agentic delivery from idea to production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should make agentic capabilities reusable and the release path controlled.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34640"/>
            <a:ext cx="1554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0906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Catalog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Find assets, templates, skills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40864" y="3246120"/>
            <a:ext cx="219456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2834640"/>
            <a:ext cx="1554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4056" y="30906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Prototype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15768" y="3429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Create low-code experience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15384" y="3246120"/>
            <a:ext cx="219456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834640"/>
            <a:ext cx="1554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30906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0288" y="3429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Harden in pro-code app builder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9904" y="3246120"/>
            <a:ext cx="219456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834640"/>
            <a:ext cx="1554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83096" y="30906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FORGE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4808" y="3429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Attach connectors, templates, skills, workflows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64424" y="3246120"/>
            <a:ext cx="219456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834640"/>
            <a:ext cx="1554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7616" y="30906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Govern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39328" y="3429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Apply policy, taxonomy, RBAC, evals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38944" y="3246120"/>
            <a:ext cx="219456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04120" y="2834640"/>
            <a:ext cx="15544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8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32136" y="30906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</a:rPr>
              <a:t>Release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13848" y="3429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Run pipeline approvals and deployments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48006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" y="4800600"/>
            <a:ext cx="91440" cy="960120"/>
          </a:xfrm>
          <a:prstGeom prst="rect">
            <a:avLst/>
          </a:prstGeom>
          <a:solidFill>
            <a:srgbClr val="0097A9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9651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FORGE domains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5840" y="5276088"/>
            <a:ext cx="318211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Connectors • Templates • Skills • Agents • Workflows • Evals • Execution logs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48006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34840" y="4800600"/>
            <a:ext cx="91440" cy="960120"/>
          </a:xfrm>
          <a:prstGeom prst="rect">
            <a:avLst/>
          </a:prstGeom>
          <a:solidFill>
            <a:srgbClr val="D08B00"/>
          </a:solidFill>
          <a:ln w="12700">
            <a:solidFill>
              <a:srgbClr val="D08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9651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Pipeline controls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17720" y="5276088"/>
            <a:ext cx="318211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Versioning • Build validation • Approval gates • Deployment history • Rollback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46720" y="48006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46720" y="4800600"/>
            <a:ext cx="9144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49651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Platform guarantee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29600" y="5276088"/>
            <a:ext cx="299923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Everything carries metadata, access rules, and lifecycle status from creation through release.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FORGE + SDLC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 and rollout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standards spine, then attach modules and agentic capabilities in phases.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91440" cy="7132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47672"/>
            <a:ext cx="1034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Phase 1 — 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58568"/>
            <a:ext cx="103601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Gateway shell, design tokens, module registry, identity schema, metadata schema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679192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679192"/>
            <a:ext cx="91440" cy="7132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43784"/>
            <a:ext cx="1034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Phase 2 — Core modules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154680"/>
            <a:ext cx="103601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Asset Catalog, Prototype Builder, Admin taxonomy/tag controls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575304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75304"/>
            <a:ext cx="91440" cy="7132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39896"/>
            <a:ext cx="1034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Phase 3 — Build path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050792"/>
            <a:ext cx="103601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Application Builder, shared components, handoff from prototype to 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471416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471416"/>
            <a:ext cx="91440" cy="713232"/>
          </a:xfrm>
          <a:prstGeom prst="rect">
            <a:avLst/>
          </a:prstGeom>
          <a:solidFill>
            <a:srgbClr val="0097A9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636008"/>
            <a:ext cx="1034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Phase 4 — Agentic scale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946904"/>
            <a:ext cx="103601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FORGE connectors, templates, skills, evals, policy controls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5367528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5367528"/>
            <a:ext cx="91440" cy="713232"/>
          </a:xfrm>
          <a:prstGeom prst="rect">
            <a:avLst/>
          </a:prstGeom>
          <a:solidFill>
            <a:srgbClr val="D08B00"/>
          </a:solidFill>
          <a:ln w="12700">
            <a:solidFill>
              <a:srgbClr val="D08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532120"/>
            <a:ext cx="1034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Phase 5 — Release rigor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5843016"/>
            <a:ext cx="103601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SDLC controls, approvals, observability, audit, lifecycle dashboards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920240" y="6355080"/>
            <a:ext cx="8412480" cy="310896"/>
          </a:xfrm>
          <a:prstGeom prst="roundRect">
            <a:avLst>
              <a:gd name="adj" fmla="val 17647"/>
            </a:avLst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6409944"/>
            <a:ext cx="8266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with the shared standards spine, not with one-off app builds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the gateway platform as the standard operating model for all future app and agentic solution development.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91440" cy="32461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47672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What we are standardizing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258568"/>
            <a:ext cx="5148072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Shared enterprise shell and design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Central taxonomy, tags, and metadata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Shared identity and RBAC schemas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Module registry and reusable app templates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FORGE as governed agentic capability layer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One SDLC path from prototype to production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78308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50800" dir="2700000">
              <a:srgbClr val="B8C3D6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783080"/>
            <a:ext cx="91440" cy="3246120"/>
          </a:xfrm>
          <a:prstGeom prst="rect">
            <a:avLst/>
          </a:prstGeom>
          <a:solidFill>
            <a:srgbClr val="0097A9"/>
          </a:solidFill>
          <a:ln w="12700">
            <a:solidFill>
              <a:srgbClr val="0097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4767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What this unlocks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258568"/>
            <a:ext cx="4690872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Consistent user experience across modules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Faster reuse of assets, skills, templates, and connectors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Better governance and auditability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Lower duplication in access and metadata logic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• Cleaner path from idea to deployable solution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5440680"/>
            <a:ext cx="10058400" cy="713232"/>
          </a:xfrm>
          <a:prstGeom prst="roundRect">
            <a:avLst>
              <a:gd name="adj" fmla="val 8974"/>
            </a:avLst>
          </a:prstGeom>
          <a:solidFill>
            <a:srgbClr val="001B5E"/>
          </a:solidFill>
          <a:ln w="12700">
            <a:solidFill>
              <a:srgbClr val="001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569671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Recommendation: stand up the standards spine first, then onboard Catalog, Builders, FORGE, Admin, and Pipeline on top of it.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6019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Decision Ask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09960" y="6583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 Platform: Unified Standards, Taxonomy, and Agentic Delivery</dc:title>
  <dc:subject>Gateway Platform Pitch Deck</dc:subject>
  <dc:creator>OpenAI</dc:creator>
  <cp:lastModifiedBy>OpenAI</cp:lastModifiedBy>
  <cp:revision>1</cp:revision>
  <dcterms:created xsi:type="dcterms:W3CDTF">2026-03-02T18:12:22Z</dcterms:created>
  <dcterms:modified xsi:type="dcterms:W3CDTF">2026-03-02T18:12:22Z</dcterms:modified>
</cp:coreProperties>
</file>